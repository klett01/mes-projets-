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Transporteur international dans le secteur logistique" id="84" name="Google Shape;84;p13"/>
          <p:cNvPicPr preferRelativeResize="0"/>
          <p:nvPr/>
        </p:nvPicPr>
        <p:blipFill rotWithShape="1">
          <a:blip r:embed="rId3">
            <a:alphaModFix/>
          </a:blip>
          <a:srcRect b="0" l="0" r="0" t="0"/>
          <a:stretch/>
        </p:blipFill>
        <p:spPr>
          <a:xfrm>
            <a:off x="952500" y="0"/>
            <a:ext cx="10287000" cy="6858000"/>
          </a:xfrm>
          <a:prstGeom prst="rect">
            <a:avLst/>
          </a:prstGeom>
          <a:noFill/>
          <a:ln>
            <a:noFill/>
          </a:ln>
        </p:spPr>
      </p:pic>
      <p:sp>
        <p:nvSpPr>
          <p:cNvPr id="85" name="Google Shape;85;p13"/>
          <p:cNvSpPr txBox="1"/>
          <p:nvPr/>
        </p:nvSpPr>
        <p:spPr>
          <a:xfrm>
            <a:off x="533400" y="2484120"/>
            <a:ext cx="11201400" cy="14465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fr-FR" sz="8800" u="none" cap="none" strike="noStrike">
                <a:solidFill>
                  <a:schemeClr val="dk1"/>
                </a:solidFill>
                <a:latin typeface="Calibri"/>
                <a:ea typeface="Calibri"/>
                <a:cs typeface="Calibri"/>
                <a:sym typeface="Calibri"/>
              </a:rPr>
              <a:t>Travail Pratique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nvSpPr>
        <p:spPr>
          <a:xfrm>
            <a:off x="624840" y="86916"/>
            <a:ext cx="10942320" cy="67710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800" u="none" cap="none" strike="noStrike">
                <a:solidFill>
                  <a:schemeClr val="dk1"/>
                </a:solidFill>
                <a:latin typeface="Arial"/>
                <a:ea typeface="Arial"/>
                <a:cs typeface="Arial"/>
                <a:sym typeface="Arial"/>
              </a:rPr>
              <a:t>Présentation Corporate de Global Freight Solutions</a:t>
            </a:r>
            <a:endParaRPr/>
          </a:p>
          <a:p>
            <a:pPr indent="0" lvl="0" marL="0" marR="0" rtl="0" algn="l">
              <a:spcBef>
                <a:spcPts val="0"/>
              </a:spcBef>
              <a:spcAft>
                <a:spcPts val="0"/>
              </a:spcAft>
              <a:buNone/>
            </a:pPr>
            <a:r>
              <a:t/>
            </a:r>
            <a:endParaRPr b="0" i="0"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Introduction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Global Freight Solutions est un leader mondial dans le secteur du transport de fret en vrac et en conteneurs. Forts de décennies d'expérience, nous offrons des solutions logistiques intégrées qui répondent aux besoins complexes de nos clients dans le monde entier. Notre engagement envers l'excellence opérationnelle et l'innovation nous permet de fournir des services de transport fiables et efficaces, tout en respectant les normes environnementales et de sécurité les plus strictes.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Vision et Mission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Notre vision est de redéfinir le transport de fret en offrant des solutions innovantes et durables qui favorisent le commerce mondial. Notre mission est de connecter les marchés mondiaux en fournissant des services de transport de fret de haute qualité qui garantissent la satisfaction de nos clients et la croissance de leurs activités.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Réseau Mondial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Avec un réseau étendu de bureaux et de partenaires stratégiques dans les principaux hubs logistiques du monde, Global Freight Solutions est idéalement positionné pour gérer les expéditions internationales. Notre présence mondiale nous permet de proposer des solutions sur mesure qui répondent aux exigences spécifiques de chaque marché.</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Services de Transport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Nous offrons une gamme complète de services de transport, y compris le transport maritime en vrac, le transport de conteneurs, le fret aérien et les solutions intermodales. Nos services sont conçus pour optimiser la chaîne d'approvisionnement de nos clients, réduire les coûts et améliorer l'efficacité.</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Engagement envers la Durabilité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Global Freight Solutions s'engage à réduire l'empreinte carbone de ses opérations. Nous investissons dans des technologies de transport écologiques et adoptons des pratiques durables pour minimiser notre impact environnemental. Nos initiatives incluent l'utilisation de carburants alternatifs, l'optimisation des itinéraires et la mise en œuvre de systèmes de gestion de l'énergie.</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Technologie et Innovation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Nous intégrons des technologies de pointe pour améliorer la visibilité et la gestion des expéditions. Notre plateforme numérique permet à nos clients de suivre leurs envois en temps réel, d'optimiser la planification logistique et d'accéder à des analyses de données pour une prise de décision éclairée.</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Engagement envers la Sécurité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La sécurité est au cœur de nos opérations. Nous appliquons des normes rigoureuses de sécurité pour protéger les marchandises de nos clients tout au long de la chaîne d'approvisionnement. Nos équipes sont formées aux meilleures pratiques en matière de sécurité et de conformité aux réglementations internationales.</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0" i="0" lang="fr-FR" sz="1400">
                <a:solidFill>
                  <a:schemeClr val="dk1"/>
                </a:solidFill>
                <a:latin typeface="Arial"/>
                <a:ea typeface="Arial"/>
                <a:cs typeface="Arial"/>
                <a:sym typeface="Arial"/>
              </a:rPr>
              <a:t>Conclusion :</a:t>
            </a:r>
            <a:br>
              <a:rPr b="0" i="0" lang="fr-FR" sz="1400">
                <a:solidFill>
                  <a:schemeClr val="dk1"/>
                </a:solidFill>
                <a:latin typeface="Arial"/>
                <a:ea typeface="Arial"/>
                <a:cs typeface="Arial"/>
                <a:sym typeface="Arial"/>
              </a:rPr>
            </a:br>
            <a:r>
              <a:rPr b="0" i="0" lang="fr-FR" sz="1400">
                <a:solidFill>
                  <a:schemeClr val="dk1"/>
                </a:solidFill>
                <a:latin typeface="Arial"/>
                <a:ea typeface="Arial"/>
                <a:cs typeface="Arial"/>
                <a:sym typeface="Arial"/>
              </a:rPr>
              <a:t>Global Freight Solutions est déterminé à fournir des services de transport de fret de classe mondiale qui soutiennent le commerce mondial et favorisent le développement économique. Nous continuerons à innover et à nous adapter aux besoins changeants de nos clients, tout en respectant nos engagements en matière de durabilité et de sécurité.</a:t>
            </a:r>
            <a:endParaRPr sz="1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nvSpPr>
        <p:spPr>
          <a:xfrm>
            <a:off x="259080" y="117693"/>
            <a:ext cx="11826240" cy="67403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1800">
                <a:solidFill>
                  <a:schemeClr val="dk1"/>
                </a:solidFill>
                <a:latin typeface="Arial"/>
                <a:ea typeface="Arial"/>
                <a:cs typeface="Arial"/>
                <a:sym typeface="Arial"/>
              </a:rPr>
              <a:t>Énoncé d'Exercice : Analyse de Risques Cyber pour Global Freight Solutions</a:t>
            </a:r>
            <a:endParaRPr/>
          </a:p>
          <a:p>
            <a:pPr indent="0" lvl="0" marL="0" marR="0" rtl="0" algn="l">
              <a:spcBef>
                <a:spcPts val="0"/>
              </a:spcBef>
              <a:spcAft>
                <a:spcPts val="0"/>
              </a:spcAft>
              <a:buClr>
                <a:schemeClr val="dk1"/>
              </a:buClr>
              <a:buSzPts val="1600"/>
              <a:buFont typeface="Calibri"/>
              <a:buNone/>
            </a:pPr>
            <a:r>
              <a:t/>
            </a:r>
            <a:endParaRPr b="0" i="0" sz="1600">
              <a:solidFill>
                <a:schemeClr val="dk1"/>
              </a:solidFill>
              <a:latin typeface="Arial"/>
              <a:ea typeface="Arial"/>
              <a:cs typeface="Arial"/>
              <a:sym typeface="Arial"/>
            </a:endParaRPr>
          </a:p>
          <a:p>
            <a:pPr indent="0" lvl="0" marL="0" marR="0" rtl="0" algn="l">
              <a:spcBef>
                <a:spcPts val="0"/>
              </a:spcBef>
              <a:spcAft>
                <a:spcPts val="0"/>
              </a:spcAft>
              <a:buNone/>
            </a:pPr>
            <a:r>
              <a:rPr b="0" i="0" lang="fr-FR" sz="1600">
                <a:solidFill>
                  <a:schemeClr val="dk1"/>
                </a:solidFill>
                <a:latin typeface="Arial"/>
                <a:ea typeface="Arial"/>
                <a:cs typeface="Arial"/>
                <a:sym typeface="Arial"/>
              </a:rPr>
              <a:t>Contexte :Global Freight Solutions est une entreprise internationale spécialisée dans le transport de fret en vrac et en conteneurs. Avec un réseau mondial de bureaux et de partenaires logistiques, l'entreprise s'appuie sur des systèmes numériques avancés pour gérer ses opérations et assurer la traçabilité des expéditions. En tant qu'acteur majeur du secteur logistique, Global Freight Solutions est exposé à divers risques cybernétiques qui pourraient affecter ses opérations, sa réputation et la sécurité des données de ses clients.</a:t>
            </a:r>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Arial"/>
              <a:ea typeface="Arial"/>
              <a:cs typeface="Arial"/>
              <a:sym typeface="Arial"/>
            </a:endParaRPr>
          </a:p>
          <a:p>
            <a:pPr indent="-101600" lvl="0" marL="0" marR="0" rtl="0" algn="l">
              <a:spcBef>
                <a:spcPts val="0"/>
              </a:spcBef>
              <a:spcAft>
                <a:spcPts val="0"/>
              </a:spcAft>
              <a:buClr>
                <a:schemeClr val="dk1"/>
              </a:buClr>
              <a:buSzPts val="1600"/>
              <a:buFont typeface="Calibri"/>
              <a:buAutoNum type="arabicPeriod"/>
            </a:pPr>
            <a:r>
              <a:rPr b="0" i="0" lang="fr-FR" sz="1600">
                <a:solidFill>
                  <a:schemeClr val="dk1"/>
                </a:solidFill>
                <a:latin typeface="Arial"/>
                <a:ea typeface="Arial"/>
                <a:cs typeface="Arial"/>
                <a:sym typeface="Arial"/>
              </a:rPr>
              <a:t>Objectifs de l'Exercice :Identifier les Actifs Critiques : Dressez la liste des actifs numériques essentiels pour l'entreprise, tels que les systèmes de gestion des transports (TMS), les bases de données clients, les plateformes de suivi des expéditions, et les infrastructures de communication.</a:t>
            </a:r>
            <a:endParaRPr/>
          </a:p>
          <a:p>
            <a:pPr indent="0" lvl="0" marL="0" marR="0" rtl="0" algn="l">
              <a:spcBef>
                <a:spcPts val="0"/>
              </a:spcBef>
              <a:spcAft>
                <a:spcPts val="0"/>
              </a:spcAft>
              <a:buClr>
                <a:schemeClr val="dk1"/>
              </a:buClr>
              <a:buSzPts val="1600"/>
              <a:buFont typeface="Calibri"/>
              <a:buNone/>
            </a:pPr>
            <a:r>
              <a:t/>
            </a:r>
            <a:endParaRPr b="0" i="0" sz="1600">
              <a:solidFill>
                <a:schemeClr val="dk1"/>
              </a:solidFill>
              <a:latin typeface="Arial"/>
              <a:ea typeface="Arial"/>
              <a:cs typeface="Arial"/>
              <a:sym typeface="Arial"/>
            </a:endParaRPr>
          </a:p>
          <a:p>
            <a:pPr indent="-101600" lvl="0" marL="0" marR="0" rtl="0" algn="l">
              <a:spcBef>
                <a:spcPts val="0"/>
              </a:spcBef>
              <a:spcAft>
                <a:spcPts val="0"/>
              </a:spcAft>
              <a:buClr>
                <a:schemeClr val="dk1"/>
              </a:buClr>
              <a:buSzPts val="1600"/>
              <a:buFont typeface="Calibri"/>
              <a:buAutoNum type="arabicPeriod"/>
            </a:pPr>
            <a:r>
              <a:rPr b="0" i="0" lang="fr-FR" sz="1600">
                <a:solidFill>
                  <a:schemeClr val="dk1"/>
                </a:solidFill>
                <a:latin typeface="Arial"/>
                <a:ea typeface="Arial"/>
                <a:cs typeface="Arial"/>
                <a:sym typeface="Arial"/>
              </a:rPr>
              <a:t>Identifier les Menaces Potentielles : Recensez les menaces cybernétiques possibles, y compris les attaques par rançongiciel, le phishing, les menaces internes, les vulnérabilités des systèmes IoT (Internet des objets) utilisés pour le suivi des conteneurs, et les attaques DDoS (déni de service distribué).</a:t>
            </a:r>
            <a:endParaRPr/>
          </a:p>
          <a:p>
            <a:pPr indent="0" lvl="0" marL="0" marR="0" rtl="0" algn="l">
              <a:spcBef>
                <a:spcPts val="0"/>
              </a:spcBef>
              <a:spcAft>
                <a:spcPts val="0"/>
              </a:spcAft>
              <a:buClr>
                <a:schemeClr val="dk1"/>
              </a:buClr>
              <a:buSzPts val="1600"/>
              <a:buFont typeface="Calibri"/>
              <a:buNone/>
            </a:pPr>
            <a:r>
              <a:t/>
            </a:r>
            <a:endParaRPr b="0" i="0" sz="1600">
              <a:solidFill>
                <a:schemeClr val="dk1"/>
              </a:solidFill>
              <a:latin typeface="Arial"/>
              <a:ea typeface="Arial"/>
              <a:cs typeface="Arial"/>
              <a:sym typeface="Arial"/>
            </a:endParaRPr>
          </a:p>
          <a:p>
            <a:pPr indent="-101600" lvl="0" marL="0" marR="0" rtl="0" algn="l">
              <a:spcBef>
                <a:spcPts val="0"/>
              </a:spcBef>
              <a:spcAft>
                <a:spcPts val="0"/>
              </a:spcAft>
              <a:buClr>
                <a:schemeClr val="dk1"/>
              </a:buClr>
              <a:buSzPts val="1600"/>
              <a:buFont typeface="Calibri"/>
              <a:buAutoNum type="arabicPeriod"/>
            </a:pPr>
            <a:r>
              <a:rPr b="0" i="0" lang="fr-FR" sz="1600">
                <a:solidFill>
                  <a:schemeClr val="dk1"/>
                </a:solidFill>
                <a:latin typeface="Arial"/>
                <a:ea typeface="Arial"/>
                <a:cs typeface="Arial"/>
                <a:sym typeface="Arial"/>
              </a:rPr>
              <a:t>Évaluer la Probabilité et l'Impact : Pour chaque menace identifiée, évaluez la probabilité de survenance et l'impact potentiel sur l'entreprise. Utilisez une échelle de 1 à 5 pour la probabilité et l'impact, où 1 est faible et 5 est élevé.</a:t>
            </a:r>
            <a:endParaRPr/>
          </a:p>
          <a:p>
            <a:pPr indent="0" lvl="0" marL="0" marR="0" rtl="0" algn="l">
              <a:spcBef>
                <a:spcPts val="0"/>
              </a:spcBef>
              <a:spcAft>
                <a:spcPts val="0"/>
              </a:spcAft>
              <a:buClr>
                <a:schemeClr val="dk1"/>
              </a:buClr>
              <a:buSzPts val="1600"/>
              <a:buFont typeface="Calibri"/>
              <a:buNone/>
            </a:pPr>
            <a:r>
              <a:t/>
            </a:r>
            <a:endParaRPr b="0" i="0" sz="1600">
              <a:solidFill>
                <a:schemeClr val="dk1"/>
              </a:solidFill>
              <a:latin typeface="Arial"/>
              <a:ea typeface="Arial"/>
              <a:cs typeface="Arial"/>
              <a:sym typeface="Arial"/>
            </a:endParaRPr>
          </a:p>
          <a:p>
            <a:pPr indent="-101600" lvl="0" marL="0" marR="0" rtl="0" algn="l">
              <a:spcBef>
                <a:spcPts val="0"/>
              </a:spcBef>
              <a:spcAft>
                <a:spcPts val="0"/>
              </a:spcAft>
              <a:buClr>
                <a:schemeClr val="dk1"/>
              </a:buClr>
              <a:buSzPts val="1600"/>
              <a:buFont typeface="Calibri"/>
              <a:buAutoNum type="arabicPeriod"/>
            </a:pPr>
            <a:r>
              <a:rPr b="0" i="0" lang="fr-FR" sz="1600">
                <a:solidFill>
                  <a:schemeClr val="dk1"/>
                </a:solidFill>
                <a:latin typeface="Arial"/>
                <a:ea typeface="Arial"/>
                <a:cs typeface="Arial"/>
                <a:sym typeface="Arial"/>
              </a:rPr>
              <a:t>Prioriser les Risques : Utilisez une matrice de risque pour classer les menaces en fonction de leur score de risque (probabilité x impact) et priorisez les actions de mitigation.</a:t>
            </a:r>
            <a:endParaRPr/>
          </a:p>
          <a:p>
            <a:pPr indent="0" lvl="0" marL="0" marR="0" rtl="0" algn="l">
              <a:spcBef>
                <a:spcPts val="0"/>
              </a:spcBef>
              <a:spcAft>
                <a:spcPts val="0"/>
              </a:spcAft>
              <a:buClr>
                <a:schemeClr val="dk1"/>
              </a:buClr>
              <a:buSzPts val="1600"/>
              <a:buFont typeface="Calibri"/>
              <a:buNone/>
            </a:pPr>
            <a:r>
              <a:t/>
            </a:r>
            <a:endParaRPr b="0" i="0" sz="1600">
              <a:solidFill>
                <a:schemeClr val="dk1"/>
              </a:solidFill>
              <a:latin typeface="Arial"/>
              <a:ea typeface="Arial"/>
              <a:cs typeface="Arial"/>
              <a:sym typeface="Arial"/>
            </a:endParaRPr>
          </a:p>
          <a:p>
            <a:pPr indent="-101600" lvl="0" marL="0" marR="0" rtl="0" algn="l">
              <a:spcBef>
                <a:spcPts val="0"/>
              </a:spcBef>
              <a:spcAft>
                <a:spcPts val="0"/>
              </a:spcAft>
              <a:buClr>
                <a:schemeClr val="dk1"/>
              </a:buClr>
              <a:buSzPts val="1600"/>
              <a:buFont typeface="Calibri"/>
              <a:buAutoNum type="arabicPeriod"/>
            </a:pPr>
            <a:r>
              <a:rPr b="0" i="0" lang="fr-FR" sz="1600">
                <a:solidFill>
                  <a:schemeClr val="dk1"/>
                </a:solidFill>
                <a:latin typeface="Arial"/>
                <a:ea typeface="Arial"/>
                <a:cs typeface="Arial"/>
                <a:sym typeface="Arial"/>
              </a:rPr>
              <a:t>Proposer des Mesures de Mitigation : Pour les risques classés comme élevés, proposez des mesures de sécurité pour réduire la probabilité ou l'impact de ces menaces. Cela peut inclure des améliorations technologiques, des politiques de sécurité, ou des formations pour le personnel.</a:t>
            </a:r>
            <a:endParaRPr/>
          </a:p>
          <a:p>
            <a:pPr indent="-101600" lvl="0" marL="0" marR="0" rtl="0" algn="l">
              <a:spcBef>
                <a:spcPts val="0"/>
              </a:spcBef>
              <a:spcAft>
                <a:spcPts val="0"/>
              </a:spcAft>
              <a:buClr>
                <a:schemeClr val="dk1"/>
              </a:buClr>
              <a:buSzPts val="1600"/>
              <a:buFont typeface="Arial"/>
              <a:buChar char="•"/>
            </a:pPr>
            <a:r>
              <a:rPr b="0" i="0" lang="fr-FR" sz="1600">
                <a:solidFill>
                  <a:schemeClr val="dk1"/>
                </a:solidFill>
                <a:latin typeface="Arial"/>
                <a:ea typeface="Arial"/>
                <a:cs typeface="Arial"/>
                <a:sym typeface="Arial"/>
              </a:rPr>
              <a:t>Consignes :Travaillez en groupe pour discuter et remplir la matrice de risque.</a:t>
            </a:r>
            <a:endParaRPr/>
          </a:p>
          <a:p>
            <a:pPr indent="-101600" lvl="0" marL="0" marR="0" rtl="0" algn="l">
              <a:spcBef>
                <a:spcPts val="0"/>
              </a:spcBef>
              <a:spcAft>
                <a:spcPts val="0"/>
              </a:spcAft>
              <a:buClr>
                <a:schemeClr val="dk1"/>
              </a:buClr>
              <a:buSzPts val="1600"/>
              <a:buFont typeface="Arial"/>
              <a:buChar char="•"/>
            </a:pPr>
            <a:r>
              <a:rPr b="0" i="0" lang="fr-FR" sz="1600">
                <a:solidFill>
                  <a:schemeClr val="dk1"/>
                </a:solidFill>
                <a:latin typeface="Arial"/>
                <a:ea typeface="Arial"/>
                <a:cs typeface="Arial"/>
                <a:sym typeface="Arial"/>
              </a:rPr>
              <a:t>Présentez vos résultats sous forme de tableau et expliquez vos choix de priorisation.</a:t>
            </a:r>
            <a:endParaRPr/>
          </a:p>
          <a:p>
            <a:pPr indent="-101600" lvl="0" marL="0" marR="0" rtl="0" algn="l">
              <a:spcBef>
                <a:spcPts val="0"/>
              </a:spcBef>
              <a:spcAft>
                <a:spcPts val="0"/>
              </a:spcAft>
              <a:buClr>
                <a:schemeClr val="dk1"/>
              </a:buClr>
              <a:buSzPts val="1600"/>
              <a:buFont typeface="Arial"/>
              <a:buChar char="•"/>
            </a:pPr>
            <a:r>
              <a:rPr b="0" i="0" lang="fr-FR" sz="1600">
                <a:solidFill>
                  <a:schemeClr val="dk1"/>
                </a:solidFill>
                <a:latin typeface="Arial"/>
                <a:ea typeface="Arial"/>
                <a:cs typeface="Arial"/>
                <a:sym typeface="Arial"/>
              </a:rPr>
              <a:t>Proposez un plan d'action pour les trois risques les plus critiques identifiés.</a:t>
            </a:r>
            <a:endParaRPr/>
          </a:p>
          <a:p>
            <a:pPr indent="0" lvl="0" marL="0" marR="0" rtl="0" algn="l">
              <a:spcBef>
                <a:spcPts val="0"/>
              </a:spcBef>
              <a:spcAft>
                <a:spcPts val="0"/>
              </a:spcAft>
              <a:buClr>
                <a:schemeClr val="dk1"/>
              </a:buClr>
              <a:buSzPts val="1600"/>
              <a:buFont typeface="Arial"/>
              <a:buNone/>
            </a:pPr>
            <a:r>
              <a:t/>
            </a:r>
            <a:endParaRPr b="0" i="0" sz="1600">
              <a:solidFill>
                <a:schemeClr val="dk1"/>
              </a:solidFill>
              <a:latin typeface="Arial"/>
              <a:ea typeface="Arial"/>
              <a:cs typeface="Arial"/>
              <a:sym typeface="Arial"/>
            </a:endParaRPr>
          </a:p>
          <a:p>
            <a:pPr indent="0" lvl="0" marL="0" marR="0" rtl="0" algn="l">
              <a:spcBef>
                <a:spcPts val="0"/>
              </a:spcBef>
              <a:spcAft>
                <a:spcPts val="0"/>
              </a:spcAft>
              <a:buNone/>
            </a:pPr>
            <a:r>
              <a:rPr b="0" i="0" lang="fr-FR" sz="1600">
                <a:solidFill>
                  <a:schemeClr val="dk1"/>
                </a:solidFill>
                <a:latin typeface="Arial"/>
                <a:ea typeface="Arial"/>
                <a:cs typeface="Arial"/>
                <a:sym typeface="Arial"/>
              </a:rPr>
              <a:t>Résultats Attendus :À la fin de l'exercice, chaque groupe devra présenter une matrice de risque complète, accompagnée d'une analyse des risques les plus importants pour Global Freight Solutions et des recommandations pour améliorer la posture de sécurité de l'entreprise. L'objectif est de développer une compréhension pratique de l'évaluation et de la gestion des risques cybernétiques dans le contexte complexe du transport international de fret.</a:t>
            </a: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