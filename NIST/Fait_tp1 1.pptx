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1A4B38-D171-C799-C3F6-2D7EFC61839C}" v="1" dt="2026-06-04T09:30:39.444"/>
    <p1510:client id="{FA7AD94B-A644-1FE2-7AE1-AB4B26A47BDC}" v="6" dt="2026-06-02T09:59:57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47" d="100"/>
          <a:sy n="47" d="100"/>
        </p:scale>
        <p:origin x="48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44A15-39C0-4097-9822-ED5357BE9969}" type="datetimeFigureOut">
              <a:rPr lang="fr-FR" smtClean="0"/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3030C-882E-4F00-A863-3BAB7E50C3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80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3030C-882E-4F00-A863-3BAB7E50C39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260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7380717-B3B5-BCDB-21AB-845A15F2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400056"/>
            <a:ext cx="11335657" cy="6376307"/>
          </a:xfrm>
          <a:prstGeom prst="rect">
            <a:avLst/>
          </a:prstGeom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42B4DDA1-FBE9-FA30-218D-C4BE8D86D0E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376988" y="3730625"/>
            <a:ext cx="5815012" cy="26924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fr-FR" dirty="0">
              <a:solidFill>
                <a:schemeClr val="tx1"/>
              </a:solidFill>
            </a:endParaRPr>
          </a:p>
          <a:p>
            <a:endParaRPr lang="fr-FR" dirty="0">
              <a:solidFill>
                <a:schemeClr val="tx1"/>
              </a:solidFill>
            </a:endParaRPr>
          </a:p>
          <a:p>
            <a:r>
              <a:rPr lang="fr-FR">
                <a:solidFill>
                  <a:schemeClr val="tx1"/>
                </a:solidFill>
              </a:rPr>
              <a:t>Par:</a:t>
            </a:r>
          </a:p>
          <a:p>
            <a:r>
              <a:rPr lang="fr-FR" dirty="0">
                <a:solidFill>
                  <a:schemeClr val="tx1"/>
                </a:solidFill>
              </a:rPr>
              <a:t>VOUBOU MOUDODOU Guewen </a:t>
            </a:r>
            <a:r>
              <a:rPr lang="fr-FR">
                <a:solidFill>
                  <a:schemeClr val="tx1"/>
                </a:solidFill>
              </a:rPr>
              <a:t>Klett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49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9C4F3D13-7A39-195C-AEEB-ED5D6E0BB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546883"/>
              </p:ext>
            </p:extLst>
          </p:nvPr>
        </p:nvGraphicFramePr>
        <p:xfrm>
          <a:off x="480076" y="1251906"/>
          <a:ext cx="10437638" cy="53541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8346">
                  <a:extLst>
                    <a:ext uri="{9D8B030D-6E8A-4147-A177-3AD203B41FA5}">
                      <a16:colId xmlns:a16="http://schemas.microsoft.com/office/drawing/2014/main" val="764560383"/>
                    </a:ext>
                  </a:extLst>
                </a:gridCol>
                <a:gridCol w="1759875">
                  <a:extLst>
                    <a:ext uri="{9D8B030D-6E8A-4147-A177-3AD203B41FA5}">
                      <a16:colId xmlns:a16="http://schemas.microsoft.com/office/drawing/2014/main" val="149635119"/>
                    </a:ext>
                  </a:extLst>
                </a:gridCol>
                <a:gridCol w="1500278">
                  <a:extLst>
                    <a:ext uri="{9D8B030D-6E8A-4147-A177-3AD203B41FA5}">
                      <a16:colId xmlns:a16="http://schemas.microsoft.com/office/drawing/2014/main" val="2981246055"/>
                    </a:ext>
                  </a:extLst>
                </a:gridCol>
                <a:gridCol w="1798464">
                  <a:extLst>
                    <a:ext uri="{9D8B030D-6E8A-4147-A177-3AD203B41FA5}">
                      <a16:colId xmlns:a16="http://schemas.microsoft.com/office/drawing/2014/main" val="185085377"/>
                    </a:ext>
                  </a:extLst>
                </a:gridCol>
                <a:gridCol w="1695560">
                  <a:extLst>
                    <a:ext uri="{9D8B030D-6E8A-4147-A177-3AD203B41FA5}">
                      <a16:colId xmlns:a16="http://schemas.microsoft.com/office/drawing/2014/main" val="3863504718"/>
                    </a:ext>
                  </a:extLst>
                </a:gridCol>
                <a:gridCol w="1333062">
                  <a:extLst>
                    <a:ext uri="{9D8B030D-6E8A-4147-A177-3AD203B41FA5}">
                      <a16:colId xmlns:a16="http://schemas.microsoft.com/office/drawing/2014/main" val="1851418677"/>
                    </a:ext>
                  </a:extLst>
                </a:gridCol>
                <a:gridCol w="1982053">
                  <a:extLst>
                    <a:ext uri="{9D8B030D-6E8A-4147-A177-3AD203B41FA5}">
                      <a16:colId xmlns:a16="http://schemas.microsoft.com/office/drawing/2014/main" val="825674334"/>
                    </a:ext>
                  </a:extLst>
                </a:gridCol>
              </a:tblGrid>
              <a:tr h="428336"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Nature de l’actif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Responsable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Typologie du risque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Probabilité 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Impact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>
                          <a:effectLst/>
                        </a:rPr>
                        <a:t>Score du risque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360463214"/>
                  </a:ext>
                </a:extLst>
              </a:tr>
              <a:tr h="1285007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1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Systèmes de Gestion des Transports (TMS)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DSI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Indisponibilité du système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20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3260566984"/>
                  </a:ext>
                </a:extLst>
              </a:tr>
              <a:tr h="1070839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Bases de Données Clients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Responsable Sécurité des Données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Fuite d'informations sensibles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20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824724246"/>
                  </a:ext>
                </a:extLst>
              </a:tr>
              <a:tr h="1070839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Plateformes de Suivi des Expéditions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Responsable Logistique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Altération des données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6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644432961"/>
                  </a:ext>
                </a:extLst>
              </a:tr>
              <a:tr h="856672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Infrastructure de Communication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DSI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Interception des communications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12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190072592"/>
                  </a:ext>
                </a:extLst>
              </a:tr>
              <a:tr h="642504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Systèmes IoT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Responsable IoT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Piratage des dispositifs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15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429374043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0E27578-F457-2A2F-124B-57938EC3B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76" y="361625"/>
            <a:ext cx="4478564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Identification des Actifs et Analyse des Risques</a:t>
            </a: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Actifs Critiques et Risques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02DEA-A5B5-F596-207A-7A90B50F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A0F335F4-9F46-5758-247C-056B5EE8B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026" y="165253"/>
            <a:ext cx="4852087" cy="64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Analyse des Risques et Plan de Remédiation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fr-FR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Plan de Remédiation pour les Risques Identifiés</a:t>
            </a: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412247C-8AD7-341C-74DE-1A8C3AE2B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073198"/>
              </p:ext>
            </p:extLst>
          </p:nvPr>
        </p:nvGraphicFramePr>
        <p:xfrm>
          <a:off x="616944" y="1277957"/>
          <a:ext cx="9871112" cy="52550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3889">
                  <a:extLst>
                    <a:ext uri="{9D8B030D-6E8A-4147-A177-3AD203B41FA5}">
                      <a16:colId xmlns:a16="http://schemas.microsoft.com/office/drawing/2014/main" val="26350393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1799895816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909712509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2251868270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3114101858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2323317558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1599023581"/>
                    </a:ext>
                  </a:extLst>
                </a:gridCol>
                <a:gridCol w="1233889">
                  <a:extLst>
                    <a:ext uri="{9D8B030D-6E8A-4147-A177-3AD203B41FA5}">
                      <a16:colId xmlns:a16="http://schemas.microsoft.com/office/drawing/2014/main" val="885820993"/>
                    </a:ext>
                  </a:extLst>
                </a:gridCol>
              </a:tblGrid>
              <a:tr h="502259">
                <a:tc>
                  <a:txBody>
                    <a:bodyPr/>
                    <a:lstStyle/>
                    <a:p>
                      <a:pPr algn="ctr"/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Risque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Source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Score croisé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Typologie de remédiation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Score résiduel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Priorité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kern="0">
                          <a:effectLst/>
                        </a:rPr>
                        <a:t>Jalon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4173207263"/>
                  </a:ext>
                </a:extLst>
              </a:tr>
              <a:tr h="1004518"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Indisponibilité des TMS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Attaques DDoS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20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Pare-feu, CDNs, et solutions anti-DDoS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15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Haute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12/2024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3355741912"/>
                  </a:ext>
                </a:extLst>
              </a:tr>
              <a:tr h="1004518">
                <a:tc>
                  <a:txBody>
                    <a:bodyPr/>
                    <a:lstStyle/>
                    <a:p>
                      <a:r>
                        <a:rPr lang="fr-FR" sz="1100" kern="0" dirty="0">
                          <a:effectLst/>
                        </a:rPr>
                        <a:t>2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Fuite d'informations sensibles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Phishing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20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MFA, formation, outils anti-phishing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15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Haute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06/2025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26816149"/>
                  </a:ext>
                </a:extLst>
              </a:tr>
              <a:tr h="985846"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3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Altération des données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Vulnérabilités SI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6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Validation des entrées et sauvegardes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Moyenne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03/2025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624000850"/>
                  </a:ext>
                </a:extLst>
              </a:tr>
              <a:tr h="1004518"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4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Interception des communications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Absence de chiffrement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12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VPN et chiffrement E2E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7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Moyenne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09/2024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3867504712"/>
                  </a:ext>
                </a:extLst>
              </a:tr>
              <a:tr h="753388">
                <a:tc>
                  <a:txBody>
                    <a:bodyPr/>
                    <a:lstStyle/>
                    <a:p>
                      <a:r>
                        <a:rPr lang="fr-FR" sz="1100" kern="0" dirty="0">
                          <a:effectLst/>
                        </a:rPr>
                        <a:t>5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Piratage des dispositifs IoT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Vulnérabilités IoT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15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Mises à jour, segmentation réseau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7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>
                          <a:effectLst/>
                        </a:rPr>
                        <a:t>Haute</a:t>
                      </a:r>
                      <a:endParaRPr lang="fr-FR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tc>
                  <a:txBody>
                    <a:bodyPr/>
                    <a:lstStyle/>
                    <a:p>
                      <a:r>
                        <a:rPr lang="fr-FR" sz="1100" kern="0" dirty="0">
                          <a:effectLst/>
                        </a:rPr>
                        <a:t>12/2025</a:t>
                      </a:r>
                      <a:endParaRPr lang="fr-FR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056" marR="64056" marT="0" marB="0"/>
                </a:tc>
                <a:extLst>
                  <a:ext uri="{0D108BD9-81ED-4DB2-BD59-A6C34878D82A}">
                    <a16:rowId xmlns:a16="http://schemas.microsoft.com/office/drawing/2014/main" val="63017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33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9A97C4C-3420-E323-335C-91EFE8254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563841"/>
              </p:ext>
            </p:extLst>
          </p:nvPr>
        </p:nvGraphicFramePr>
        <p:xfrm>
          <a:off x="324464" y="277586"/>
          <a:ext cx="11596941" cy="67600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3850">
                  <a:extLst>
                    <a:ext uri="{9D8B030D-6E8A-4147-A177-3AD203B41FA5}">
                      <a16:colId xmlns:a16="http://schemas.microsoft.com/office/drawing/2014/main" val="764560383"/>
                    </a:ext>
                  </a:extLst>
                </a:gridCol>
                <a:gridCol w="1209224">
                  <a:extLst>
                    <a:ext uri="{9D8B030D-6E8A-4147-A177-3AD203B41FA5}">
                      <a16:colId xmlns:a16="http://schemas.microsoft.com/office/drawing/2014/main" val="149635119"/>
                    </a:ext>
                  </a:extLst>
                </a:gridCol>
                <a:gridCol w="1569219">
                  <a:extLst>
                    <a:ext uri="{9D8B030D-6E8A-4147-A177-3AD203B41FA5}">
                      <a16:colId xmlns:a16="http://schemas.microsoft.com/office/drawing/2014/main" val="2981246055"/>
                    </a:ext>
                  </a:extLst>
                </a:gridCol>
                <a:gridCol w="1881107">
                  <a:extLst>
                    <a:ext uri="{9D8B030D-6E8A-4147-A177-3AD203B41FA5}">
                      <a16:colId xmlns:a16="http://schemas.microsoft.com/office/drawing/2014/main" val="185085377"/>
                    </a:ext>
                  </a:extLst>
                </a:gridCol>
                <a:gridCol w="1773474">
                  <a:extLst>
                    <a:ext uri="{9D8B030D-6E8A-4147-A177-3AD203B41FA5}">
                      <a16:colId xmlns:a16="http://schemas.microsoft.com/office/drawing/2014/main" val="3863504718"/>
                    </a:ext>
                  </a:extLst>
                </a:gridCol>
                <a:gridCol w="1394319">
                  <a:extLst>
                    <a:ext uri="{9D8B030D-6E8A-4147-A177-3AD203B41FA5}">
                      <a16:colId xmlns:a16="http://schemas.microsoft.com/office/drawing/2014/main" val="1851418677"/>
                    </a:ext>
                  </a:extLst>
                </a:gridCol>
                <a:gridCol w="1361221">
                  <a:extLst>
                    <a:ext uri="{9D8B030D-6E8A-4147-A177-3AD203B41FA5}">
                      <a16:colId xmlns:a16="http://schemas.microsoft.com/office/drawing/2014/main" val="825674334"/>
                    </a:ext>
                  </a:extLst>
                </a:gridCol>
                <a:gridCol w="1524527">
                  <a:extLst>
                    <a:ext uri="{9D8B030D-6E8A-4147-A177-3AD203B41FA5}">
                      <a16:colId xmlns:a16="http://schemas.microsoft.com/office/drawing/2014/main" val="165086714"/>
                    </a:ext>
                  </a:extLst>
                </a:gridCol>
              </a:tblGrid>
              <a:tr h="705031">
                <a:tc>
                  <a:txBody>
                    <a:bodyPr/>
                    <a:lstStyle/>
                    <a:p>
                      <a:pPr algn="ctr"/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Categorie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Nature de l’actif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Responsable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Typologie du risque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Probabilité 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Impact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kern="0" dirty="0">
                          <a:effectLst/>
                        </a:rPr>
                        <a:t>Score du risque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360463214"/>
                  </a:ext>
                </a:extLst>
              </a:tr>
              <a:tr h="1579564"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GV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Protection des données sensibles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DSI, Responsable IoT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Intrusion malware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3260566984"/>
                  </a:ext>
                </a:extLst>
              </a:tr>
              <a:tr h="1316303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2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GV.OP-01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dirty="0"/>
                        <a:t>Politiques et procédures de cybersécurité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DSSI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Mauvaise mise en œuvre des politiques </a:t>
                      </a: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824724246"/>
                  </a:ext>
                </a:extLst>
              </a:tr>
              <a:tr h="1316303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3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Plateformes de Suivi des Expéditions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Plateformes de Suivi des Expéditions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Responsable Logistique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Altération des données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2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6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644432961"/>
                  </a:ext>
                </a:extLst>
              </a:tr>
              <a:tr h="1053044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4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Infrastructure de Communication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Infrastructure de Communication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DSI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Interception des communications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4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12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1190072592"/>
                  </a:ext>
                </a:extLst>
              </a:tr>
              <a:tr h="789782">
                <a:tc>
                  <a:txBody>
                    <a:bodyPr/>
                    <a:lstStyle/>
                    <a:p>
                      <a:r>
                        <a:rPr lang="fr-FR" sz="1200" kern="0">
                          <a:effectLst/>
                        </a:rPr>
                        <a:t>5</a:t>
                      </a:r>
                      <a:endParaRPr lang="fr-F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Systèmes IoT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Systèmes IoT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Responsable IoT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Piratage des dispositifs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3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tc>
                  <a:txBody>
                    <a:bodyPr/>
                    <a:lstStyle/>
                    <a:p>
                      <a:r>
                        <a:rPr lang="fr-FR" sz="1200" kern="0" dirty="0">
                          <a:effectLst/>
                        </a:rPr>
                        <a:t>15</a:t>
                      </a:r>
                      <a:endParaRPr lang="fr-F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427" marR="67427" marT="0" marB="0"/>
                </a:tc>
                <a:extLst>
                  <a:ext uri="{0D108BD9-81ED-4DB2-BD59-A6C34878D82A}">
                    <a16:rowId xmlns:a16="http://schemas.microsoft.com/office/drawing/2014/main" val="429374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283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Salle d’ions</Template>
  <TotalTime>1121</TotalTime>
  <Words>310</Words>
  <Application>Microsoft Office PowerPoint</Application>
  <PresentationFormat>Grand écran</PresentationFormat>
  <Paragraphs>146</Paragraphs>
  <Slides>4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Salle d’ions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Mamadou Dahirou</dc:creator>
  <cp:lastModifiedBy>Klett Guewen VOUBOU</cp:lastModifiedBy>
  <cp:revision>7</cp:revision>
  <dcterms:created xsi:type="dcterms:W3CDTF">2025-01-14T17:13:47Z</dcterms:created>
  <dcterms:modified xsi:type="dcterms:W3CDTF">2026-06-04T09:31:04Z</dcterms:modified>
</cp:coreProperties>
</file>